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6FB"/>
          </a:solidFill>
          <a:ln>
            <a:solidFill>
              <a:srgbClr val="F3F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65760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138160" y="365760"/>
            <a:ext cx="4053535" cy="6492240"/>
          </a:xfrm>
          <a:prstGeom prst="rect">
            <a:avLst/>
          </a:prstGeom>
          <a:solidFill>
            <a:srgbClr val="E5ECF6"/>
          </a:solidFill>
          <a:ln>
            <a:solidFill>
              <a:srgbClr val="E5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20116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F5496"/>
                </a:solidFill>
              </a:defRPr>
            </a:pPr>
            <a:r>
              <a:t>DESIGN FOR MANUFACTURING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6035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62542"/>
                </a:solidFill>
              </a:defRPr>
            </a:pPr>
            <a:r>
              <a:t>DFM Auto-Generated Report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6035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727B8C"/>
                </a:solidFill>
              </a:defRPr>
            </a:pPr>
            <a:r>
              <a:t>Mock Model | Mock STEP + BOM driven MVP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651760"/>
            <a:ext cx="59893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  <a:defRPr sz="1300">
                <a:solidFill>
                  <a:srgbClr val="414A59"/>
                </a:solidFill>
              </a:defRPr>
            </a:pPr>
            <a:r>
              <a:t>Product: Mock Model</a:t>
            </a:r>
          </a:p>
          <a:p>
            <a:pPr>
              <a:spcAft>
                <a:spcPts val="600"/>
              </a:spcAft>
              <a:defRPr sz="1300">
                <a:solidFill>
                  <a:srgbClr val="414A59"/>
                </a:solidFill>
              </a:defRPr>
            </a:pPr>
            <a:r>
              <a:t>Assembly: Mock Model Assembly</a:t>
            </a:r>
          </a:p>
          <a:p>
            <a:pPr>
              <a:spcAft>
                <a:spcPts val="600"/>
              </a:spcAft>
              <a:defRPr sz="1300">
                <a:solidFill>
                  <a:srgbClr val="414A59"/>
                </a:solidFill>
              </a:defRPr>
            </a:pPr>
            <a:r>
              <a:t>CAD Parser: Mock parser via CADParser interface</a:t>
            </a:r>
          </a:p>
          <a:p>
            <a:pPr>
              <a:spcAft>
                <a:spcPts val="600"/>
              </a:spcAft>
              <a:defRPr sz="1300">
                <a:solidFill>
                  <a:srgbClr val="414A59"/>
                </a:solidFill>
              </a:defRPr>
            </a:pPr>
            <a:r>
              <a:t>Review Scope: Structure / module / spare / LLT / software architecture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257800"/>
            <a:ext cx="1993392" cy="786384"/>
          </a:xfrm>
          <a:prstGeom prst="roundRect">
            <a:avLst/>
          </a:prstGeom>
          <a:solidFill>
            <a:srgbClr val="EBF1F9"/>
          </a:solidFill>
          <a:ln>
            <a:solidFill>
              <a:srgbClr val="C4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542"/>
                </a:solidFill>
              </a:defRPr>
            </a:pPr>
            <a:r>
              <a:t>CAD parts: 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44368" y="5257800"/>
            <a:ext cx="1993392" cy="786384"/>
          </a:xfrm>
          <a:prstGeom prst="roundRect">
            <a:avLst/>
          </a:prstGeom>
          <a:solidFill>
            <a:srgbClr val="EBF1F9"/>
          </a:solidFill>
          <a:ln>
            <a:solidFill>
              <a:srgbClr val="C4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542"/>
                </a:solidFill>
              </a:defRPr>
            </a:pPr>
            <a:r>
              <a:t>BOM items: 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57216" y="5257800"/>
            <a:ext cx="1993392" cy="786384"/>
          </a:xfrm>
          <a:prstGeom prst="roundRect">
            <a:avLst/>
          </a:prstGeom>
          <a:solidFill>
            <a:srgbClr val="EBF1F9"/>
          </a:solidFill>
          <a:ln>
            <a:solidFill>
              <a:srgbClr val="C4D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162542"/>
                </a:solidFill>
              </a:defRPr>
            </a:pPr>
            <a:r>
              <a:t>Modules: 4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58200" y="914400"/>
            <a:ext cx="3154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overview_dfm_auto_generated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7928" y="1024128"/>
            <a:ext cx="2935224" cy="39867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95360" y="5166360"/>
            <a:ext cx="28803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Overview placeholder image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Input Snapshot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583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6035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STEP source: mock_model.step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Assembly name: Mock Model Assembly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BOM lines: 12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Current version uses mock CAD parsing and mock visual generation.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234440"/>
            <a:ext cx="42519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overview_input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344168"/>
            <a:ext cx="4032504" cy="4261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0" y="5760720"/>
            <a:ext cx="3977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Mock supporting visual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DFM Workflow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8122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22960" y="1645920"/>
            <a:ext cx="50749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1. STEP Mock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1828800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395728"/>
            <a:ext cx="50749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2. BOM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89320" y="2578608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3145536"/>
            <a:ext cx="50749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3. Tagging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3328415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895344"/>
            <a:ext cx="50749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4. Planning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4078224"/>
            <a:ext cx="3200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45152"/>
            <a:ext cx="5074920" cy="530352"/>
          </a:xfrm>
          <a:prstGeom prst="roundRect">
            <a:avLst/>
          </a:prstGeom>
          <a:solidFill>
            <a:srgbClr val="F0F5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5. PPT Output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89520" y="1234440"/>
            <a:ext cx="40233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workflow_dfm_workflow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344168"/>
            <a:ext cx="3803904" cy="426110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26680" y="5760720"/>
            <a:ext cx="37490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Workflow placeholder image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Product Structure Diagram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9037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286000" y="1645920"/>
            <a:ext cx="3291840" cy="658368"/>
          </a:xfrm>
          <a:prstGeom prst="roundRect">
            <a:avLst/>
          </a:prstGeom>
          <a:solidFill>
            <a:srgbClr val="EAF0F8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162542"/>
                </a:solidFill>
              </a:defRPr>
            </a:pPr>
            <a:r>
              <a:t>Mock Model Assembly</a:t>
            </a:r>
          </a:p>
        </p:txBody>
      </p:sp>
      <p:sp>
        <p:nvSpPr>
          <p:cNvPr id="9" name="Rectangle 8"/>
          <p:cNvSpPr/>
          <p:nvPr/>
        </p:nvSpPr>
        <p:spPr>
          <a:xfrm>
            <a:off x="1298448" y="2423160"/>
            <a:ext cx="27432" cy="438912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3108960"/>
            <a:ext cx="1051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14A59"/>
                </a:solidFill>
              </a:defRPr>
            </a:pPr>
            <a:r>
              <a:t>Base Frame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2423160"/>
            <a:ext cx="27432" cy="438912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48840" y="3108960"/>
            <a:ext cx="1051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14A59"/>
                </a:solidFill>
              </a:defRPr>
            </a:pPr>
            <a:r>
              <a:t>Gantry Motion Axis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50208" y="2423160"/>
            <a:ext cx="27432" cy="438912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74720" y="3108960"/>
            <a:ext cx="1051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14A59"/>
                </a:solidFill>
              </a:defRPr>
            </a:pPr>
            <a:r>
              <a:t>Process Head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276088" y="2423160"/>
            <a:ext cx="27432" cy="438912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800600" y="3108960"/>
            <a:ext cx="1051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14A59"/>
                </a:solidFill>
              </a:defRPr>
            </a:pPr>
            <a:r>
              <a:t>Electrical Cabinet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01968" y="2423160"/>
            <a:ext cx="27432" cy="438912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26480" y="3108960"/>
            <a:ext cx="1051560" cy="868680"/>
          </a:xfrm>
          <a:prstGeom prst="roundRect">
            <a:avLst/>
          </a:prstGeom>
          <a:solidFill>
            <a:srgbClr val="F6F9FD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414A59"/>
                </a:solidFill>
              </a:defRPr>
            </a:pPr>
            <a:r>
              <a:t>Safety Enclosure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680960" y="1234440"/>
            <a:ext cx="39319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overview_product_stru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0688" y="1344168"/>
            <a:ext cx="3712463" cy="4261104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818120" y="5760720"/>
            <a:ext cx="36576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Overview placeholder image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Assembly Hierarchy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399032"/>
          <a:ext cx="10917936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3104"/>
                <a:gridCol w="1516380"/>
                <a:gridCol w="2729484"/>
                <a:gridCol w="5458968"/>
              </a:tblGrid>
              <a:tr h="6518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No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Name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ASSY-001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Main Assembly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Top-level assembly parsed from mock STEP input.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FRAME-001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Base Frame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Welded structure and mounting datum.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GANTRY-001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Gantry Motion Axis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Carries linear rails, servo and ballscrew.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TOOL-001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Process Head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Tooling or dispense module.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CTRL-001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Electrical Cabinet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PLC, IO and power distribution.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40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SAFE-001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Safety Enclosure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Guarding and interlock interfaces.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Module Decomposition Overview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25780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Motion Module (7)</a:t>
            </a:r>
          </a:p>
          <a:p>
            <a:pPr>
              <a:spcBef>
                <a:spcPts val="600"/>
              </a:spcBef>
              <a:defRPr sz="1200">
                <a:solidFill>
                  <a:srgbClr val="414A59"/>
                </a:solidFill>
              </a:defRPr>
            </a:pPr>
            <a:r>
              <a:t>Base Frame, Gantry Motion Axis, Base Frame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1234440"/>
            <a:ext cx="525780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Process Module (4)</a:t>
            </a:r>
          </a:p>
          <a:p>
            <a:pPr>
              <a:spcBef>
                <a:spcPts val="600"/>
              </a:spcBef>
              <a:defRPr sz="1200">
                <a:solidFill>
                  <a:srgbClr val="414A59"/>
                </a:solidFill>
              </a:defRPr>
            </a:pPr>
            <a:r>
              <a:t>Process Head, Process Nozzle, Product Fixture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926080"/>
            <a:ext cx="525780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Control Module (4)</a:t>
            </a:r>
          </a:p>
          <a:p>
            <a:pPr>
              <a:spcBef>
                <a:spcPts val="600"/>
              </a:spcBef>
              <a:defRPr sz="1200">
                <a:solidFill>
                  <a:srgbClr val="414A59"/>
                </a:solidFill>
              </a:defRPr>
            </a:pPr>
            <a:r>
              <a:t>Electrical Cabinet, Vision Sensor, PLC Controller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89320" y="2926080"/>
            <a:ext cx="5257800" cy="132588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Safety Module (2)</a:t>
            </a:r>
          </a:p>
          <a:p>
            <a:pPr>
              <a:spcBef>
                <a:spcPts val="600"/>
              </a:spcBef>
              <a:defRPr sz="1200">
                <a:solidFill>
                  <a:srgbClr val="414A59"/>
                </a:solidFill>
              </a:defRPr>
            </a:pPr>
            <a:r>
              <a:t>Safety Enclosure, Safety Enclosure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03120" y="4572000"/>
            <a:ext cx="7955279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verview_module_decomposition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2848" y="4681728"/>
            <a:ext cx="7735823" cy="78638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40279" y="5623560"/>
            <a:ext cx="7680959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Module overview placeholder image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Motion Module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06324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Motion Module contains 7 tagged parts/items.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This page is generated from keyword-based mock classification.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DFM review focus: interfaces, assembly sequence and supplier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34440"/>
            <a:ext cx="7818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ule_motion_modu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344168"/>
            <a:ext cx="7598664" cy="17922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1920" y="3291840"/>
            <a:ext cx="7543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Module placeholder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11064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" y="3867912"/>
          <a:ext cx="10917935" cy="2048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10670"/>
                <a:gridCol w="1782520"/>
                <a:gridCol w="3119410"/>
                <a:gridCol w="2005335"/>
              </a:tblGrid>
              <a:tr h="341375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Name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341375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Base Frame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Weldment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20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341375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Linear Rail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Standard Part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18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341375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Servo Motor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35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341375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BallScrew Assembly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30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341380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Timing Belt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21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Process Module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06324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Process Module contains 4 tagged parts/items.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This page is generated from keyword-based mock classification.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DFM review focus: interfaces, assembly sequence and supplier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34440"/>
            <a:ext cx="7818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ule_process_modu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344168"/>
            <a:ext cx="7598664" cy="17922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1920" y="3291840"/>
            <a:ext cx="7543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Module placeholder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11064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" y="3867912"/>
          <a:ext cx="10917934" cy="2048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0196"/>
                <a:gridCol w="1898771"/>
                <a:gridCol w="3322850"/>
                <a:gridCol w="2136117"/>
              </a:tblGrid>
              <a:tr h="512063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Name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Process Nozzle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Machining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12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Product Fixture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Machining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15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51206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Air Filter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7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Control Module Detail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3063240" cy="2331720"/>
          </a:xfrm>
          <a:prstGeom prst="roundRect">
            <a:avLst/>
          </a:prstGeom>
          <a:solidFill>
            <a:srgbClr val="F5F8FC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 b="1">
                <a:solidFill>
                  <a:srgbClr val="162542"/>
                </a:solidFill>
              </a:defRPr>
            </a:pPr>
            <a:r>
              <a:t>Summary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Control Module contains 4 tagged parts/items.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This page is generated from keyword-based mock classification.</a:t>
            </a:r>
          </a:p>
          <a:p>
            <a:pPr>
              <a:spcBef>
                <a:spcPts val="400"/>
              </a:spcBef>
              <a:defRPr sz="1150">
                <a:solidFill>
                  <a:srgbClr val="414A59"/>
                </a:solidFill>
              </a:defRPr>
            </a:pPr>
            <a:r>
              <a:t>• DFM review focus: interfaces, assembly sequence and supplier readiness.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1234440"/>
            <a:ext cx="7818120" cy="233172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module_control_module_deta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4488" y="1344168"/>
            <a:ext cx="7598664" cy="179222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1920" y="3291840"/>
            <a:ext cx="75438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Module placeholder image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94760"/>
            <a:ext cx="110642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" y="3867912"/>
          <a:ext cx="10917935" cy="2048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96691"/>
                <a:gridCol w="1940966"/>
                <a:gridCol w="3396691"/>
                <a:gridCol w="2183587"/>
              </a:tblGrid>
              <a:tr h="512063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 Name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Process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Vision Sensor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28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512063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PLC Controller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42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51206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Cable Chain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Purchased Part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14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09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BOM Summary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399032"/>
          <a:ext cx="10917935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320910"/>
                <a:gridCol w="4597025"/>
              </a:tblGrid>
              <a:tr h="651836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structural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motion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tooling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electrical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651836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651840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Spare Parts And Consumables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399032"/>
          <a:ext cx="1091793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1945"/>
                <a:gridCol w="2183587"/>
                <a:gridCol w="1746869"/>
                <a:gridCol w="2620304"/>
                <a:gridCol w="1965228"/>
              </a:tblGrid>
              <a:tr h="1520952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Supplier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1520952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Timing Belt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Spare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Motion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21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1520952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Air Filter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Consumable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Utility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7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Long Lead Time Items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1792" y="1399032"/>
          <a:ext cx="10917933" cy="4562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7927"/>
                <a:gridCol w="1230189"/>
                <a:gridCol w="1383963"/>
                <a:gridCol w="1999058"/>
                <a:gridCol w="3536796"/>
              </a:tblGrid>
              <a:tr h="912571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Item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Qty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Lead Time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Supplier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 marL="60000" marR="60000">
                    <a:solidFill>
                      <a:srgbClr val="2F5496"/>
                    </a:solidFill>
                  </a:tcPr>
                </a:tc>
              </a:tr>
              <a:tr h="912571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Servo Motor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35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Servo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Early sourcing required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912571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BallScrew Assembly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30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Motion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Early sourcing required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  <a:tr h="912571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Vision Sensor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28 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Vision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Early sourcing required</a:t>
                      </a:r>
                    </a:p>
                  </a:txBody>
                  <a:tcPr marL="50000" marR="50000">
                    <a:solidFill>
                      <a:srgbClr val="F8FAFD"/>
                    </a:solidFill>
                  </a:tcPr>
                </a:tc>
              </a:tr>
              <a:tr h="912572"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PLC Controller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42 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Mock Controls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defRPr sz="1050">
                          <a:solidFill>
                            <a:srgbClr val="414A59"/>
                          </a:solidFill>
                        </a:defRPr>
                      </a:pPr>
                      <a:r>
                        <a:t>Early sourcing required</a:t>
                      </a:r>
                    </a:p>
                  </a:txBody>
                  <a:tcPr marL="50000" marR="50000">
                    <a:solidFill>
                      <a:srgbClr val="F1F5FA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DFM Observations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658368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36192"/>
            <a:ext cx="603504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Detected 4 logical modules from CAD + BOM mock tagging.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Found 4 long lead time items that should be tracked early.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Spare parts count: 1; consumables count: 1.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Current CAD parsing is mocked, so geometry-driven manufacturability checks are placeholders.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234440"/>
            <a:ext cx="425196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module_dfm_observa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48" y="1344168"/>
            <a:ext cx="4032504" cy="426110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498080" y="5760720"/>
            <a:ext cx="397764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Mock supporting visual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Software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98932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68680" y="1600200"/>
            <a:ext cx="53492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FastAPI API Layer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56432" y="228600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514600"/>
            <a:ext cx="53492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cad_parser -&gt; tagging -&gt; planner -&gt; ppt_builder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56432" y="320040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3429000"/>
            <a:ext cx="53492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Mock STEP / BOM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4114800"/>
            <a:ext cx="18288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2F5496"/>
                </a:solidFill>
              </a:defRPr>
            </a:pPr>
            <a:r>
              <a:t>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343400"/>
            <a:ext cx="5349240" cy="658368"/>
          </a:xfrm>
          <a:prstGeom prst="roundRect">
            <a:avLst/>
          </a:prstGeom>
          <a:solidFill>
            <a:srgbClr val="F1F6FB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500" b="1">
                <a:solidFill>
                  <a:srgbClr val="162542"/>
                </a:solidFill>
              </a:defRPr>
            </a:pPr>
            <a:r>
              <a:t>PPTX Output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234440"/>
            <a:ext cx="480060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software_architecture_software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2008" y="1344168"/>
            <a:ext cx="4581144" cy="426110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949440" y="5760720"/>
            <a:ext cx="452628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Software architecture placeholder image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14630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1">
                <a:solidFill>
                  <a:srgbClr val="2F5496"/>
                </a:solidFill>
              </a:defRPr>
            </a:pPr>
            <a:r>
              <a:t>DFM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804672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62542"/>
                </a:solidFill>
              </a:defRPr>
            </a:pPr>
            <a:r>
              <a:t>Next Steps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005840"/>
            <a:ext cx="1051560" cy="73152"/>
          </a:xfrm>
          <a:prstGeom prst="roundRect">
            <a:avLst/>
          </a:prstGeom>
          <a:solidFill>
            <a:srgbClr val="2F5496"/>
          </a:solidFill>
          <a:ln>
            <a:solidFill>
              <a:srgbClr val="2F54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110642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BAC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54480"/>
            <a:ext cx="10424160" cy="4297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Replace mock STEP parser with a real CAD/assembly extractor.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Add geometry-based DFM rules for machining, sheet metal and assembly clearance.</a:t>
            </a:r>
          </a:p>
          <a:p>
            <a:pPr>
              <a:spcAft>
                <a:spcPts val="700"/>
              </a:spcAft>
              <a:defRPr sz="1600">
                <a:solidFill>
                  <a:srgbClr val="414A59"/>
                </a:solidFill>
              </a:defRPr>
            </a:pPr>
            <a:r>
              <a:t>• Integrate template control, branding and richer chart/image rendering.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327648"/>
            <a:ext cx="11247120" cy="27432"/>
          </a:xfrm>
          <a:prstGeom prst="rect">
            <a:avLst/>
          </a:prstGeom>
          <a:solidFill>
            <a:srgbClr val="DCE4EE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6382512"/>
            <a:ext cx="5852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727B8C"/>
                </a:solidFill>
              </a:defRPr>
            </a:pPr>
            <a:r>
              <a:t>DFM Auto-Generated Report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382512"/>
            <a:ext cx="10972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727B8C"/>
                </a:solidFill>
              </a:defRPr>
            </a:pPr>
            <a: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